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team and the task: five-class DR grading on APTOS 2019. Today we present Stage 2 (choosing and auditing a base paper) and Stage 3 (reproducing its baseline and explaining the gap).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Stage 1 was the literature survey. Today covers Stage 2 and Stage 3. Stage 4 (hypothesis) is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APTOS 2019: 3,662 fundus photos from Aravind Eye Hospital, graded 0-4. Heavily imbalanced: No DR is half the data; Severe is only 5%. Grades are ordinal, so QWK is the standard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pipeline left to right. The two claimed contributions are CLAHE + blur preprocessing and the computationally cheap snapshot ensemble. Reported QWK: 0.954 single model, 0.967 with EyePACS pre-training plus the ensemble.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Selection logic: it is on our chosen dataset, uses an ordinal metric, fits free hardware, and leaves exactly the gaps from our literature review open, which makes it a clean base for a one-variable hypothesis.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upfront: no public code exists, so everything is our own re-implementation. Several key details are missing; slide 7 lists our choices for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missing detail gets a documented, defensible choice. Also mention the red flags: some reported numbers are internally inconsistent, so 0.954 may itself be unreliable.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hashed every image's raw bytes. 123 groups are exact copies; in 30 of them the same picture has two different grades. Under a random split like the paper's, 29 test images have a copy in training. We later show this has almost no effect on QWK.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trained locally on an Apple M2 with 8 GB of shared memory. B3 at 300 px swapped to disk even at batch 8 (25-45 s per step), so we used 224 px. Everything else follows the paper. The exact protocol is one flag change and ships as a Colab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Headline: with the paper's settings we get 0.827, a gap of about 0.13. Changing only the learning rate gives 0.887. Point at the Severe column: zero with the paper's settings.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paper settings. Validation QWK crashes at epochs 2, 5, 10, 17 and 23; at epoch 5 the model predicts almost one grade. Loss is still 0.61 after 30 epochs. Right: lr 1e-4, smooth, loss ~0.3.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with the paper's settings Severe is never predicted; 15 of 29 go to Moderate and 13 to PDR. QWK stays at 0.83 because these errors are adjacent. This is exactly the 'accuracy can be misleading' gap from our literature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dot is one saved epoch. Paper settings (coral): only the last snapshot is good, so the vote of ten is dragged down to 0.788. lr 1e-4 (teal): every snapshot is 0.83-0.88 and the vote, 0.887, beats every individual snapshot. Snapshot ensembles assume comparably good members.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Order by strength of evidence: the learning rate is proven experimentally; resolution and missing details are plausible; leakage is ruled out; the paper's own numbers are questionable.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ten most confidently wrong predictions of the paper-settings model. Mostly PDR predicted as Mild or Moderate, including one with a large haemorrhage. Several are dim, low-contrast or cropped.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Raise these before the examiners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variable (the loss), a direction, a magnitude, and a mechanism, as the course requires. Built on the stable lr 1e-4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four messages and invite questions. Point to the repo for code, logs and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874519"/>
            <a:ext cx="109728" cy="21031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91440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9FD8CF"/>
                </a:solidFill>
                <a:latin typeface="Calibri"/>
              </a:rPr>
              <a:t>CV RESEARCH-REPRODUCTION PROJECT  ·  STAGE 2 &amp; STAGE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1097280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>
                <a:solidFill>
                  <a:srgbClr val="FFFFFF"/>
                </a:solidFill>
                <a:latin typeface="Calibri"/>
              </a:rPr>
              <a:t>Reproducing Transfer-Learning &amp; Snapshot-Ensemble
Diabetic Retinopathy Grading on APTOS 2019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42900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D6E2F0"/>
                </a:solidFill>
                <a:latin typeface="Calibri"/>
              </a:rPr>
              <a:t>Base paper: Chilukoti et al., BMC Medical Informatics and Decision Making 24:37 (2024)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57200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Shivansh  ·  Divyanshi  ·  Vivek  ·  Shubham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12064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FD8CF"/>
                </a:solidFill>
                <a:latin typeface="Calibri"/>
              </a:rPr>
              <a:t>github.com/sshivanshg/dr-grading-reproduction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FD8CF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115568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Where we are in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580"/>
                </a:solidFill>
                <a:latin typeface="Calibri"/>
              </a:rPr>
              <a:t>Diabetic Retinopathy Grading · Reproduction of Chilukoti et al. (2024) · Stage 2 &amp;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580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1737360" cy="192024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17373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>
                <a:solidFill>
                  <a:srgbClr val="222B36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16459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222B36"/>
                </a:solidFill>
                <a:latin typeface="Calibri"/>
              </a:rPr>
              <a:t>Literature survey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34640"/>
            <a:ext cx="16459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B7580"/>
                </a:solidFill>
                <a:latin typeface="Calibri"/>
              </a:rPr>
              <a:t>10+ papers, gaps identified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04872" y="1554480"/>
            <a:ext cx="1737360" cy="192024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04872" y="1691640"/>
            <a:ext cx="17373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0591" y="2331720"/>
            <a:ext cx="16459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Pick base paper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0591" y="2834640"/>
            <a:ext cx="16459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Reproducibility checklist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6824" y="1554480"/>
            <a:ext cx="1737360" cy="192024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06824" y="1691640"/>
            <a:ext cx="17373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2544" y="2331720"/>
            <a:ext cx="16459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Reproduce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2544" y="2834640"/>
            <a:ext cx="16459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Re-run method, explain gap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1554480"/>
            <a:ext cx="1737360" cy="192024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08776" y="1691640"/>
            <a:ext cx="17373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>
                <a:solidFill>
                  <a:srgbClr val="222B36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6" y="2331720"/>
            <a:ext cx="16459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222B36"/>
                </a:solidFill>
                <a:latin typeface="Calibri"/>
              </a:rPr>
              <a:t>Hypothesis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2834640"/>
            <a:ext cx="16459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B7580"/>
                </a:solidFill>
                <a:latin typeface="Calibri"/>
              </a:rPr>
              <a:t>One change + prediction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0728" y="1554480"/>
            <a:ext cx="1737360" cy="192024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10728" y="1691640"/>
            <a:ext cx="17373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>
                <a:solidFill>
                  <a:srgbClr val="222B36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2331720"/>
            <a:ext cx="16459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222B36"/>
                </a:solidFill>
                <a:latin typeface="Calibri"/>
              </a:rPr>
              <a:t>Implement &amp; ablate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6448" y="2834640"/>
            <a:ext cx="16459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B7580"/>
                </a:solidFill>
                <a:latin typeface="Calibri"/>
              </a:rPr>
              <a:t>Measure what moved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12680" y="1554480"/>
            <a:ext cx="1737360" cy="192024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12680" y="1691640"/>
            <a:ext cx="17373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>
                <a:solidFill>
                  <a:srgbClr val="222B36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2331720"/>
            <a:ext cx="16459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222B36"/>
                </a:solidFill>
                <a:latin typeface="Calibri"/>
              </a:rPr>
              <a:t>Analyse &amp; write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2834640"/>
            <a:ext cx="16459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B7580"/>
                </a:solidFill>
                <a:latin typeface="Calibri"/>
              </a:rPr>
              <a:t>IEEE paper + defence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04872" y="361188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2A9D8F"/>
                </a:solidFill>
                <a:latin typeface="Calibri"/>
              </a:rPr>
              <a:t>▲ TODAY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20624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4206240"/>
            <a:ext cx="82296" cy="2011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4315968"/>
            <a:ext cx="51663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Calibri"/>
              </a:rPr>
              <a:t>Stage 1 take-aways (our literature review)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" y="4709159"/>
            <a:ext cx="516636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6"/>
                </a:solidFill>
                <a:latin typeface="Calibri"/>
              </a:rPr>
              <a:t>Class imbalance remains unresolved: Severe NPDR &amp; PDR are rare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6"/>
                </a:solidFill>
                <a:latin typeface="Calibri"/>
              </a:rPr>
              <a:t>Accuracy can be misleading; per-class recall and QWK are needed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6"/>
                </a:solidFill>
                <a:latin typeface="Calibri"/>
              </a:rPr>
              <a:t>Ordinal nature of grades (0→4) is under-used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20624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4206240"/>
            <a:ext cx="82296" cy="20116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19088" y="4315968"/>
            <a:ext cx="51663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A9D8F"/>
                </a:solidFill>
                <a:latin typeface="Calibri"/>
              </a:rPr>
              <a:t>Research question we are building towards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19088" y="4709159"/>
            <a:ext cx="516636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6"/>
                </a:solidFill>
                <a:latin typeface="Calibri"/>
              </a:rPr>
              <a:t>Can class-balanced, ordinal-aware learning improve Severe NPDR and PDR recognition while reducing large grading errors?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580"/>
                </a:solidFill>
                <a:latin typeface="Calibri"/>
              </a:rPr>
              <a:t>Stages 2–3 build the reproducible baseline to test it 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FD8CF"/>
                </a:solidFill>
                <a:latin typeface="Calibr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115568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Task: five-class DR grading on APTOS 2019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580"/>
                </a:solidFill>
                <a:latin typeface="Calibri"/>
              </a:rPr>
              <a:t>Diabetic Retinopathy Grading · Reproduction of Chilukoti et al. (2024) · Stage 2 &amp;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580"/>
                </a:solidFill>
                <a:latin typeface="Calibri"/>
              </a:rPr>
              <a:t>3</a:t>
            </a:r>
          </a:p>
        </p:txBody>
      </p:sp>
      <p:pic>
        <p:nvPicPr>
          <p:cNvPr id="7" name="Picture 6" descr="clas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88720"/>
            <a:ext cx="6309360" cy="374618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995160" y="1234440"/>
            <a:ext cx="4709160" cy="141732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95160" y="1234440"/>
            <a:ext cx="82296" cy="14173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96328" y="1344168"/>
            <a:ext cx="43891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Calibri"/>
              </a:rPr>
              <a:t>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96328" y="1737360"/>
            <a:ext cx="438912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6"/>
                </a:solidFill>
                <a:latin typeface="Calibri"/>
              </a:rPr>
              <a:t>3,662 colour fundus photographs, Aravind Eye Hospital (rural India)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6"/>
                </a:solidFill>
                <a:latin typeface="Calibri"/>
              </a:rPr>
              <a:t>Graded 0–4 by clinicians (ICDR scale)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0" y="2788920"/>
            <a:ext cx="4709160" cy="141732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95160" y="2788920"/>
            <a:ext cx="82296" cy="14173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96328" y="2898648"/>
            <a:ext cx="43891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Calibri"/>
              </a:rPr>
              <a:t>Split (stratified, seed 42)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96328" y="3291839"/>
            <a:ext cx="438912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6"/>
                </a:solidFill>
                <a:latin typeface="Calibri"/>
              </a:rPr>
              <a:t>70 / 15 / 15  →  2,562 train · 550 val · 550 test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6"/>
                </a:solidFill>
                <a:latin typeface="Calibri"/>
              </a:rPr>
              <a:t>Same proportions the paper used for EyePACS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95160" y="4343400"/>
            <a:ext cx="4709160" cy="1874519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4343400"/>
            <a:ext cx="82296" cy="1874519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96328" y="4453128"/>
            <a:ext cx="43891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76F51"/>
                </a:solidFill>
                <a:latin typeface="Calibri"/>
              </a:rPr>
              <a:t>Why it is hard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4846320"/>
            <a:ext cx="4389120" cy="132587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6"/>
                </a:solidFill>
                <a:latin typeface="Calibri"/>
              </a:rPr>
              <a:t>Severe NPDR = 5%, PDR = 8% of images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6"/>
                </a:solidFill>
                <a:latin typeface="Calibri"/>
              </a:rPr>
              <a:t>Adjacent grades look alike (Mild↔Moderate, Severe↔PDR)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6"/>
                </a:solidFill>
                <a:latin typeface="Calibri"/>
              </a:rPr>
              <a:t>Grades are ordinal, so error size matters → QWK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FD8CF"/>
                </a:solidFill>
                <a:latin typeface="Calibri"/>
              </a:rPr>
              <a:t>STAGE 2 ·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115568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Base paper: Chilukoti et al. (2024)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580"/>
                </a:solidFill>
                <a:latin typeface="Calibri"/>
              </a:rPr>
              <a:t>Diabetic Retinopathy Grading · Reproduction of Chilukoti et al. (2024) · Stage 2 &amp;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580"/>
                </a:solidFill>
                <a:latin typeface="Calibr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1920240" cy="13258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536192"/>
            <a:ext cx="1773936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22B36"/>
                </a:solidFill>
                <a:latin typeface="Calibri"/>
              </a:rPr>
              <a:t>Fundus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103120"/>
            <a:ext cx="1773936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B7580"/>
                </a:solidFill>
                <a:latin typeface="Calibri"/>
              </a:rPr>
              <a:t>APTOS 2019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41448" y="2075688"/>
            <a:ext cx="329184" cy="0"/>
          </a:xfrm>
          <a:prstGeom prst="line">
            <a:avLst/>
          </a:prstGeom>
          <a:ln w="28575">
            <a:solidFill>
              <a:srgbClr val="6B75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88920" y="1417320"/>
            <a:ext cx="1920240" cy="132588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62072" y="1536192"/>
            <a:ext cx="1773936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CLAHE + Gaussian blur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2072" y="2103120"/>
            <a:ext cx="1773936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contrast + denoise, 300 px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27448" y="2075688"/>
            <a:ext cx="329183" cy="0"/>
          </a:xfrm>
          <a:prstGeom prst="line">
            <a:avLst/>
          </a:prstGeom>
          <a:ln w="28575">
            <a:solidFill>
              <a:srgbClr val="6B75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74920" y="1417320"/>
            <a:ext cx="1920240" cy="13258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48072" y="1536192"/>
            <a:ext cx="1773936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22B36"/>
                </a:solidFill>
                <a:latin typeface="Calibri"/>
              </a:rPr>
              <a:t>EfficientNet-B3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8072" y="2103120"/>
            <a:ext cx="1773936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B7580"/>
                </a:solidFill>
                <a:latin typeface="Calibri"/>
              </a:rPr>
              <a:t>ImageNet-pretrained, fine-tuned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13448" y="2075688"/>
            <a:ext cx="329183" cy="0"/>
          </a:xfrm>
          <a:prstGeom prst="line">
            <a:avLst/>
          </a:prstGeom>
          <a:ln w="28575">
            <a:solidFill>
              <a:srgbClr val="6B75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60920" y="1417320"/>
            <a:ext cx="1920240" cy="13258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34072" y="1536192"/>
            <a:ext cx="1773936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22B36"/>
                </a:solidFill>
                <a:latin typeface="Calibri"/>
              </a:rPr>
              <a:t>3-layer head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34072" y="2103120"/>
            <a:ext cx="1773936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B7580"/>
                </a:solidFill>
                <a:latin typeface="Calibri"/>
              </a:rPr>
              <a:t>512 → 512 → 5, dropout 0.5/0.25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299448" y="2075688"/>
            <a:ext cx="329184" cy="0"/>
          </a:xfrm>
          <a:prstGeom prst="line">
            <a:avLst/>
          </a:prstGeom>
          <a:ln w="28575">
            <a:solidFill>
              <a:srgbClr val="6B75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646920" y="1417320"/>
            <a:ext cx="1920240" cy="132588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20072" y="1536192"/>
            <a:ext cx="1773936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Snapshot vote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0072" y="2103120"/>
            <a:ext cx="1773936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10 saved epochs, majority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2816352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580"/>
                </a:solidFill>
                <a:latin typeface="Calibri"/>
              </a:rPr>
              <a:t>Dark boxes = the paper's two claimed contributions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02920" y="3383280"/>
          <a:ext cx="5760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137160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Reported on APTOS 2019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QWK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B36"/>
                          </a:solidFill>
                          <a:latin typeface="Calibri"/>
                        </a:rPr>
                        <a:t>ImageNet init, single model</a:t>
                      </a:r>
                    </a:p>
                  </a:txBody>
                  <a:tcPr marL="54864" marR="54864" marT="27432" marB="27432" anchor="ctr">
                    <a:solidFill>
                      <a:srgbClr val="D8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22B36"/>
                          </a:solidFill>
                          <a:latin typeface="Calibri"/>
                        </a:rPr>
                        <a:t>0.954</a:t>
                      </a:r>
                    </a:p>
                  </a:txBody>
                  <a:tcPr marL="54864" marR="54864" marT="27432" marB="27432" anchor="ctr">
                    <a:solidFill>
                      <a:srgbClr val="D8EFE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EyePACS init, single model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0.956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EyePACS init + snapshot ensemble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0.967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02920" y="5166360"/>
            <a:ext cx="57607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580"/>
                </a:solidFill>
                <a:latin typeface="Calibri"/>
              </a:rPr>
              <a:t>Our target: 0.954 (ImageNet init). EyePACS pre-training needs 35k extra images, beyond our compute.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0" y="3383280"/>
            <a:ext cx="5120640" cy="278892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0" y="3383280"/>
            <a:ext cx="82296" cy="27889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84848" y="3493008"/>
            <a:ext cx="4800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A9D8F"/>
                </a:solidFill>
                <a:latin typeface="Calibri"/>
              </a:rPr>
              <a:t>Training recipe stated in the paper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84848" y="3886200"/>
            <a:ext cx="4800600" cy="224027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6"/>
                </a:solidFill>
                <a:latin typeface="Calibri"/>
              </a:rPr>
              <a:t>Adam, learning rate 1e-3, weight decay 1e-4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6"/>
                </a:solidFill>
                <a:latin typeface="Calibri"/>
              </a:rPr>
              <a:t>Gradient clipping 0.1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6"/>
                </a:solidFill>
                <a:latin typeface="Calibri"/>
              </a:rPr>
              <a:t>Strategy 2: CLAHE + blur at 300 × 300, weights saved at 10 intervals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6"/>
                </a:solidFill>
                <a:latin typeface="Calibri"/>
              </a:rPr>
              <a:t>QWK as the primary metric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FD8CF"/>
                </a:solidFill>
                <a:latin typeface="Calibri"/>
              </a:rPr>
              <a:t>STAGE 2 ·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115568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Why we chose this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580"/>
                </a:solidFill>
                <a:latin typeface="Calibri"/>
              </a:rPr>
              <a:t>Diabetic Retinopathy Grading · Reproduction of Chilukoti et al. (2024) · Stage 2 &amp;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580"/>
                </a:solidFill>
                <a:latin typeface="Calibr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82296" cy="228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435607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Same dataset &amp; 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828800"/>
            <a:ext cx="329184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22B36"/>
                </a:solidFill>
                <a:latin typeface="Calibri"/>
              </a:rPr>
              <a:t>Five-class grading on APTOS 2019, the course-recommended dataset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32588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325880"/>
            <a:ext cx="82296" cy="228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435607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Ordinal metric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1828800"/>
            <a:ext cx="329184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22B36"/>
                </a:solidFill>
                <a:latin typeface="Calibri"/>
              </a:rPr>
              <a:t>Uses QWK as primary metric, matching our Stage 1 finding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2588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325880"/>
            <a:ext cx="82296" cy="228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435607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Feasible compute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1828800"/>
            <a:ext cx="329184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22B36"/>
                </a:solidFill>
                <a:latin typeface="Calibri"/>
              </a:rPr>
              <a:t>Transfer learning from one pretrained CNN, no heavy ensemble of models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84048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840480"/>
            <a:ext cx="82296" cy="2286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3950208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A9D8F"/>
                </a:solidFill>
                <a:latin typeface="Calibri"/>
              </a:rPr>
              <a:t>Leaves our gaps open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4343400"/>
            <a:ext cx="329184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22B36"/>
                </a:solidFill>
                <a:latin typeface="Calibri"/>
              </a:rPr>
              <a:t>No imbalance-aware or ordinal loss, so there's room for one clean change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84048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3840480"/>
            <a:ext cx="82296" cy="2286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98848" y="3950208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A9D8F"/>
                </a:solidFill>
                <a:latin typeface="Calibri"/>
              </a:rPr>
              <a:t>Strong claim to 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8848" y="4343400"/>
            <a:ext cx="329184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22B36"/>
                </a:solidFill>
                <a:latin typeface="Calibri"/>
              </a:rPr>
              <a:t>0.954–0.967 QWK is state-of-the-art level, worth verifying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384048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2440" y="3840480"/>
            <a:ext cx="82296" cy="2286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93608" y="3950208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A9D8F"/>
                </a:solidFill>
                <a:latin typeface="Calibri"/>
              </a:rPr>
              <a:t>Clear method 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3608" y="4343400"/>
            <a:ext cx="329184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22B36"/>
                </a:solidFill>
                <a:latin typeface="Calibri"/>
              </a:rPr>
              <a:t>Architecture and optimiser are described well enough to re-implement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FD8CF"/>
                </a:solidFill>
                <a:latin typeface="Calibri"/>
              </a:rPr>
              <a:t>STAGE 2 ·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115568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Reproducibility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580"/>
                </a:solidFill>
                <a:latin typeface="Calibri"/>
              </a:rPr>
              <a:t>Diabetic Retinopathy Grading · Reproduction of Chilukoti et al. (2024) · Stage 2 &amp;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580"/>
                </a:solidFill>
                <a:latin typeface="Calibri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80160"/>
          <a:ext cx="112014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7635240"/>
                <a:gridCol w="9144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Checklist item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Our answer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B36"/>
                          </a:solidFill>
                          <a:latin typeface="Calibri"/>
                        </a:rPr>
                        <a:t>Public code?</a:t>
                      </a:r>
                    </a:p>
                  </a:txBody>
                  <a:tcPr marL="54864" marR="54864" marT="27432" marB="27432" anchor="ctr">
                    <a:solidFill>
                      <a:srgbClr val="FBE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22B36"/>
                          </a:solidFill>
                          <a:latin typeface="Calibri"/>
                        </a:rPr>
                        <a:t>No repository linked or found; re-implemented from the paper text</a:t>
                      </a:r>
                    </a:p>
                  </a:txBody>
                  <a:tcPr marL="54864" marR="54864" marT="27432" marB="27432" anchor="ctr">
                    <a:solidFill>
                      <a:srgbClr val="FBE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22B36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54864" marR="54864" marT="27432" marB="27432" anchor="ctr">
                    <a:solidFill>
                      <a:srgbClr val="FBE3D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Dataset public &amp; size?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APTOS 2019, 3,662 images, ~8.9 GB (full-res mirror on Hugging Face)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Fits free GPU?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Expected yes on Colab T4 at 300 px; locally (M2, 8 GB) only at 224 px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Code usable / last commit?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N/A; our code: PyTorch 2.14 + timm 1.0.30, resumable training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Metric defined?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QWK (primary) + accuracy, precision, recall, F1, AUC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Split defined?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Only for EyePACS (70/15/15); not for APTOS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Hyper-parameters?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Optimiser, lr, decay, clipping given; batch size, loss, epochs, CLAHE params not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806440"/>
            <a:ext cx="11155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580"/>
                </a:solidFill>
                <a:latin typeface="Calibri"/>
              </a:rPr>
              <a:t>✓ available    ~ partially specified    ✗ missing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FD8CF"/>
                </a:solidFill>
                <a:latin typeface="Calibri"/>
              </a:rPr>
              <a:t>STAGE 2 ·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115568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Filling the gaps: our implementation choices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580"/>
                </a:solidFill>
                <a:latin typeface="Calibri"/>
              </a:rPr>
              <a:t>Diabetic Retinopathy Grading · Reproduction of Chilukoti et al. (2024) · Stage 2 &amp;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580"/>
                </a:solidFill>
                <a:latin typeface="Calibri"/>
              </a:rP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80160"/>
          <a:ext cx="69494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743200"/>
                <a:gridCol w="205740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Not stated in paper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Our choice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Loss function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Cross-entropy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Softmax output implies it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“Gradient clipping 0.1”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Global L2-norm clip at 0.1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Most common reading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CLAHE settings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Clip 2.0, 8×8 tiles, on LAB luminance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Standard; keeps colour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Blur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5 × 5 Gaussian, after CLAHE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Order as written in paper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APTOS split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Stratified 70/15/15, seed 42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Paper's EyePACS proportions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Final or best model?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Report both + both ensembles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Avoid cherry-picking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26679" y="1280160"/>
            <a:ext cx="3977639" cy="489204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280160"/>
            <a:ext cx="82296" cy="489204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8" y="1389888"/>
            <a:ext cx="3657599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76F51"/>
                </a:solidFill>
                <a:latin typeface="Calibri"/>
              </a:rPr>
              <a:t>Red flags in the paper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8" y="1783080"/>
            <a:ext cx="3657599" cy="4343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6"/>
                </a:solidFill>
                <a:latin typeface="Calibri"/>
              </a:rPr>
              <a:t>Table 3: precision = recall = QWK = 0.867 exactly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6"/>
                </a:solidFill>
                <a:latin typeface="Calibri"/>
              </a:rPr>
              <a:t>Constant predictors report macro AUC 0.196 (a constant predictor gives 0.5)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6"/>
                </a:solidFill>
                <a:latin typeface="Calibri"/>
              </a:rPr>
              <a:t>Table 6: accuracy, precision, recall, F1 all within 0.01 on imbalanced data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6"/>
                </a:solidFill>
                <a:latin typeface="Calibri"/>
              </a:rPr>
              <a:t>APTOS split unspecified → possible leakage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E76F51"/>
                </a:solidFill>
                <a:latin typeface="Calibri"/>
              </a:rPr>
              <a:t>We treat 0.954 as a claim to test, not ground truth.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FD8CF"/>
                </a:solidFill>
                <a:latin typeface="Calibri"/>
              </a:rPr>
              <a:t>STAGE 3 ·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115568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Data audit: APTOS contains duplicate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580"/>
                </a:solidFill>
                <a:latin typeface="Calibri"/>
              </a:rPr>
              <a:t>Diabetic Retinopathy Grading · Reproduction of Chilukoti et al. (2024) · Stage 2 &amp;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580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F3A5F"/>
                </a:solidFill>
                <a:latin typeface="Calibri"/>
              </a:rPr>
              <a:t>123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27432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6B7580"/>
                </a:solidFill>
                <a:latin typeface="Calibri"/>
              </a:rPr>
              <a:t>groups of byte-identical images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417320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E76F51"/>
                </a:solidFill>
                <a:latin typeface="Calibri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148840"/>
            <a:ext cx="27432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6B7580"/>
                </a:solidFill>
                <a:latin typeface="Calibri"/>
              </a:rPr>
              <a:t>groups with conflicting grades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417320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F3A5F"/>
                </a:solidFill>
                <a:latin typeface="Calibri"/>
              </a:rPr>
              <a:t>29 / 550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148840"/>
            <a:ext cx="27432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6B7580"/>
                </a:solidFill>
                <a:latin typeface="Calibri"/>
              </a:rPr>
              <a:t>test images with a copy in train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1417320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2A9D8F"/>
                </a:solidFill>
                <a:latin typeface="Calibri"/>
              </a:rPr>
              <a:t>±0.001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2148840"/>
            <a:ext cx="27432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6B7580"/>
                </a:solidFill>
                <a:latin typeface="Calibri"/>
              </a:rPr>
              <a:t>QWK change when removed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154680"/>
            <a:ext cx="5486400" cy="301752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154680"/>
            <a:ext cx="82296" cy="30175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3264408"/>
            <a:ext cx="51663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Calibri"/>
              </a:rPr>
              <a:t>What we did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3657600"/>
            <a:ext cx="5166360" cy="246887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22B36"/>
                </a:solidFill>
                <a:latin typeface="Calibri"/>
              </a:rPr>
              <a:t>SHA-1 hash of every raw image file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22B36"/>
                </a:solidFill>
                <a:latin typeface="Calibri"/>
              </a:rPr>
              <a:t>Perceptual hashing rejected: every fundus is a bright disc on black, giving thousands of false matches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22B36"/>
                </a:solidFill>
                <a:latin typeface="Calibri"/>
              </a:rPr>
              <a:t>Re-scored each model on the 521 test images without a training copy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154680"/>
            <a:ext cx="5486400" cy="301752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154680"/>
            <a:ext cx="82296" cy="30175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3264408"/>
            <a:ext cx="51663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A9D8F"/>
                </a:solidFill>
                <a:latin typeface="Calibri"/>
              </a:rPr>
              <a:t>What it means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657600"/>
            <a:ext cx="5166360" cy="246887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22B36"/>
                </a:solidFill>
                <a:latin typeface="Calibri"/>
              </a:rPr>
              <a:t>Leakage does not explain our gap (QWK 0.827 → 0.828)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22B36"/>
                </a:solidFill>
                <a:latin typeface="Calibri"/>
              </a:rPr>
              <a:t>Leaked images were predicted worse (65.5% acc.), because of conflicting labels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22B36"/>
                </a:solidFill>
                <a:latin typeface="Calibri"/>
              </a:rPr>
              <a:t>Label noise exists in APTOS itself (e.g. the same image graded Moderate and PDR)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FD8CF"/>
                </a:solidFill>
                <a:latin typeface="Calibri"/>
              </a:rPr>
              <a:t>STAGE 3 ·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115568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Implementation under hardware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580"/>
                </a:solidFill>
                <a:latin typeface="Calibri"/>
              </a:rPr>
              <a:t>Diabetic Retinopathy Grading · Reproduction of Chilukoti et al. (2024) · Stage 2 &amp;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580"/>
                </a:solidFill>
                <a:latin typeface="Calibri"/>
              </a:rP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80160"/>
          <a:ext cx="758952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1965960"/>
                <a:gridCol w="1600200"/>
                <a:gridCol w="178308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Setting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Paper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Ours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Reason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Backbone / head / optimiser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EffNet-B3, 3-layer, Adam 1e-3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Identical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Pre-processing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CLAHE + blur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Identical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B36"/>
                          </a:solidFill>
                          <a:latin typeface="Calibri"/>
                        </a:rPr>
                        <a:t>Resolution</a:t>
                      </a:r>
                    </a:p>
                  </a:txBody>
                  <a:tcPr marL="54864" marR="54864" marT="27432" marB="27432" anchor="ctr">
                    <a:solidFill>
                      <a:srgbClr val="FBE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22B36"/>
                          </a:solidFill>
                          <a:latin typeface="Calibri"/>
                        </a:rPr>
                        <a:t>300 × 300</a:t>
                      </a:r>
                    </a:p>
                  </a:txBody>
                  <a:tcPr marL="54864" marR="54864" marT="27432" marB="27432" anchor="ctr">
                    <a:solidFill>
                      <a:srgbClr val="FBE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22B36"/>
                          </a:solidFill>
                          <a:latin typeface="Calibri"/>
                        </a:rPr>
                        <a:t>224 × 224</a:t>
                      </a:r>
                    </a:p>
                  </a:txBody>
                  <a:tcPr marL="54864" marR="54864" marT="27432" marB="27432" anchor="ctr">
                    <a:solidFill>
                      <a:srgbClr val="FBE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22B36"/>
                          </a:solidFill>
                          <a:latin typeface="Calibri"/>
                        </a:rPr>
                        <a:t>300 px exceeds 8 GB memory</a:t>
                      </a:r>
                    </a:p>
                  </a:txBody>
                  <a:tcPr marL="54864" marR="54864" marT="27432" marB="27432" anchor="ctr">
                    <a:solidFill>
                      <a:srgbClr val="FBE3D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B36"/>
                          </a:solidFill>
                          <a:latin typeface="Calibri"/>
                        </a:rPr>
                        <a:t>Epochs / snapshots</a:t>
                      </a:r>
                    </a:p>
                  </a:txBody>
                  <a:tcPr marL="54864" marR="54864" marT="27432" marB="27432" anchor="ctr">
                    <a:solidFill>
                      <a:srgbClr val="FBE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22B36"/>
                          </a:solidFill>
                          <a:latin typeface="Calibri"/>
                        </a:rPr>
                        <a:t>60 / 10</a:t>
                      </a:r>
                    </a:p>
                  </a:txBody>
                  <a:tcPr marL="54864" marR="54864" marT="27432" marB="27432" anchor="ctr">
                    <a:solidFill>
                      <a:srgbClr val="FBE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22B36"/>
                          </a:solidFill>
                          <a:latin typeface="Calibri"/>
                        </a:rPr>
                        <a:t>30 / 10 (every 3)</a:t>
                      </a:r>
                    </a:p>
                  </a:txBody>
                  <a:tcPr marL="54864" marR="54864" marT="27432" marB="27432" anchor="ctr">
                    <a:solidFill>
                      <a:srgbClr val="FBE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22B36"/>
                          </a:solidFill>
                          <a:latin typeface="Calibri"/>
                        </a:rPr>
                        <a:t>~4 min per epoch locally</a:t>
                      </a:r>
                    </a:p>
                  </a:txBody>
                  <a:tcPr marL="54864" marR="54864" marT="27432" marB="27432" anchor="ctr">
                    <a:solidFill>
                      <a:srgbClr val="FBE3D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Batch size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not stated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largest without swapping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EyePACS pre-training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yes (for 0.967)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35k images, out of budget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366760" y="1280160"/>
            <a:ext cx="3337560" cy="22402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66760" y="1280160"/>
            <a:ext cx="82296" cy="22402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67928" y="1389888"/>
            <a:ext cx="30175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Calibri"/>
              </a:rPr>
              <a:t>Benchmarked on M2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7928" y="1783080"/>
            <a:ext cx="3017520" cy="1691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22B36"/>
                </a:solidFill>
                <a:latin typeface="Calibri"/>
              </a:rPr>
              <a:t>B3 @ 300 px: swaps, 25–45 s / step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22B36"/>
                </a:solidFill>
                <a:latin typeface="Calibri"/>
              </a:rPr>
              <a:t>B3 @ 224 px, bs 8: 2.8 GB, 12.4 img/s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22B36"/>
                </a:solidFill>
                <a:latin typeface="Calibri"/>
              </a:rPr>
              <a:t>Mixed precision: no speed-up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3703320"/>
            <a:ext cx="3337560" cy="24688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66760" y="3703320"/>
            <a:ext cx="82296" cy="24688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67928" y="3813048"/>
            <a:ext cx="30175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A9D8F"/>
                </a:solidFill>
                <a:latin typeface="Calibri"/>
              </a:rPr>
              <a:t>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7928" y="4206240"/>
            <a:ext cx="3017520" cy="1920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22B36"/>
                </a:solidFill>
                <a:latin typeface="Calibri"/>
              </a:rPr>
              <a:t>Pre-processed cache (memory-mapped)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22B36"/>
                </a:solidFill>
                <a:latin typeface="Calibri"/>
              </a:rPr>
              <a:t>Resumable checkpoints every epoch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22B36"/>
                </a:solidFill>
                <a:latin typeface="Calibri"/>
              </a:rPr>
              <a:t>Seeded: bit-identical across launches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22B36"/>
                </a:solidFill>
                <a:latin typeface="Calibri"/>
              </a:rPr>
              <a:t>Colab notebook for exact protocol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FD8CF"/>
                </a:solidFill>
                <a:latin typeface="Calibri"/>
              </a:rPr>
              <a:t>STAGE 3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115568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Results: reproduction vs.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580"/>
                </a:solidFill>
                <a:latin typeface="Calibri"/>
              </a:rPr>
              <a:t>Diabetic Retinopathy Grading · Reproduction of Chilukoti et al. (2024) · Stage 2 &amp;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580"/>
                </a:solidFill>
                <a:latin typeface="Calibri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80160"/>
          <a:ext cx="112014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783080"/>
                <a:gridCol w="1508760"/>
                <a:gridCol w="914400"/>
                <a:gridCol w="1097280"/>
                <a:gridCol w="914400"/>
                <a:gridCol w="1280160"/>
                <a:gridCol w="132588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Prediction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QWK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Acc.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Macro-F1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Severe rec.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PDR rec.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Paper settings (lr 1e-3)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single model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0.827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0.771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0.473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0.897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0.30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Paper settings (lr 1e-3)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10-snapshot vote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0.788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0.767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0.412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0.913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B36"/>
                          </a:solidFill>
                          <a:latin typeface="Calibri"/>
                        </a:rPr>
                        <a:t>Only change: lr 1e-4</a:t>
                      </a:r>
                    </a:p>
                  </a:txBody>
                  <a:tcPr marL="54864" marR="54864" marT="27432" marB="27432" anchor="ctr">
                    <a:solidFill>
                      <a:srgbClr val="D8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22B36"/>
                          </a:solidFill>
                          <a:latin typeface="Calibri"/>
                        </a:rPr>
                        <a:t>single model</a:t>
                      </a:r>
                    </a:p>
                  </a:txBody>
                  <a:tcPr marL="54864" marR="54864" marT="27432" marB="27432" anchor="ctr">
                    <a:solidFill>
                      <a:srgbClr val="D8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22B36"/>
                          </a:solidFill>
                          <a:latin typeface="Calibri"/>
                        </a:rPr>
                        <a:t>0.887</a:t>
                      </a:r>
                    </a:p>
                  </a:txBody>
                  <a:tcPr marL="54864" marR="54864" marT="27432" marB="27432" anchor="ctr">
                    <a:solidFill>
                      <a:srgbClr val="D8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22B36"/>
                          </a:solidFill>
                          <a:latin typeface="Calibri"/>
                        </a:rPr>
                        <a:t>0.815</a:t>
                      </a:r>
                    </a:p>
                  </a:txBody>
                  <a:tcPr marL="54864" marR="54864" marT="27432" marB="27432" anchor="ctr">
                    <a:solidFill>
                      <a:srgbClr val="D8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22B36"/>
                          </a:solidFill>
                          <a:latin typeface="Calibri"/>
                        </a:rPr>
                        <a:t>0.630</a:t>
                      </a:r>
                    </a:p>
                  </a:txBody>
                  <a:tcPr marL="54864" marR="54864" marT="27432" marB="27432" anchor="ctr">
                    <a:solidFill>
                      <a:srgbClr val="D8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22B36"/>
                          </a:solidFill>
                          <a:latin typeface="Calibri"/>
                        </a:rPr>
                        <a:t>0.894</a:t>
                      </a:r>
                    </a:p>
                  </a:txBody>
                  <a:tcPr marL="54864" marR="54864" marT="27432" marB="27432" anchor="ctr">
                    <a:solidFill>
                      <a:srgbClr val="D8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22B36"/>
                          </a:solidFill>
                          <a:latin typeface="Calibri"/>
                        </a:rPr>
                        <a:t>0.31</a:t>
                      </a:r>
                    </a:p>
                  </a:txBody>
                  <a:tcPr marL="54864" marR="54864" marT="27432" marB="27432" anchor="ctr">
                    <a:solidFill>
                      <a:srgbClr val="D8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22B36"/>
                          </a:solidFill>
                          <a:latin typeface="Calibri"/>
                        </a:rPr>
                        <a:t>0.55</a:t>
                      </a:r>
                    </a:p>
                  </a:txBody>
                  <a:tcPr marL="54864" marR="54864" marT="27432" marB="27432" anchor="ctr">
                    <a:solidFill>
                      <a:srgbClr val="D8EFE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B36"/>
                          </a:solidFill>
                          <a:latin typeface="Calibri"/>
                        </a:rPr>
                        <a:t>Only change: lr 1e-4</a:t>
                      </a:r>
                    </a:p>
                  </a:txBody>
                  <a:tcPr marL="54864" marR="54864" marT="27432" marB="27432" anchor="ctr">
                    <a:solidFill>
                      <a:srgbClr val="D8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22B36"/>
                          </a:solidFill>
                          <a:latin typeface="Calibri"/>
                        </a:rPr>
                        <a:t>10-snapshot vote</a:t>
                      </a:r>
                    </a:p>
                  </a:txBody>
                  <a:tcPr marL="54864" marR="54864" marT="27432" marB="27432" anchor="ctr">
                    <a:solidFill>
                      <a:srgbClr val="D8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22B36"/>
                          </a:solidFill>
                          <a:latin typeface="Calibri"/>
                        </a:rPr>
                        <a:t>0.887</a:t>
                      </a:r>
                    </a:p>
                  </a:txBody>
                  <a:tcPr marL="54864" marR="54864" marT="27432" marB="27432" anchor="ctr">
                    <a:solidFill>
                      <a:srgbClr val="D8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22B36"/>
                          </a:solidFill>
                          <a:latin typeface="Calibri"/>
                        </a:rPr>
                        <a:t>0.822</a:t>
                      </a:r>
                    </a:p>
                  </a:txBody>
                  <a:tcPr marL="54864" marR="54864" marT="27432" marB="27432" anchor="ctr">
                    <a:solidFill>
                      <a:srgbClr val="D8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22B36"/>
                          </a:solidFill>
                          <a:latin typeface="Calibri"/>
                        </a:rPr>
                        <a:t>0.613</a:t>
                      </a:r>
                    </a:p>
                  </a:txBody>
                  <a:tcPr marL="54864" marR="54864" marT="27432" marB="27432" anchor="ctr">
                    <a:solidFill>
                      <a:srgbClr val="D8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22B36"/>
                          </a:solidFill>
                          <a:latin typeface="Calibri"/>
                        </a:rPr>
                        <a:t>0.930</a:t>
                      </a:r>
                    </a:p>
                  </a:txBody>
                  <a:tcPr marL="54864" marR="54864" marT="27432" marB="27432" anchor="ctr">
                    <a:solidFill>
                      <a:srgbClr val="D8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22B36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 marL="54864" marR="54864" marT="27432" marB="27432" anchor="ctr">
                    <a:solidFill>
                      <a:srgbClr val="D8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22B36"/>
                          </a:solidFill>
                          <a:latin typeface="Calibri"/>
                        </a:rPr>
                        <a:t>0.59</a:t>
                      </a:r>
                    </a:p>
                  </a:txBody>
                  <a:tcPr marL="54864" marR="54864" marT="27432" marB="27432" anchor="ctr">
                    <a:solidFill>
                      <a:srgbClr val="D8EFE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Paper (reported)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single / ensemble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0.954 / 0.967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0.942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0.944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572000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E76F51"/>
                </a:solidFill>
                <a:latin typeface="Calibri"/>
              </a:rPr>
              <a:t>−0.127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303520"/>
            <a:ext cx="27432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6B7580"/>
                </a:solidFill>
                <a:latin typeface="Calibri"/>
              </a:rPr>
              <a:t>QWK gap with paper settings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4572000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2A9D8F"/>
                </a:solidFill>
                <a:latin typeface="Calibri"/>
              </a:rPr>
              <a:t>+0.060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5303520"/>
            <a:ext cx="27432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6B7580"/>
                </a:solidFill>
                <a:latin typeface="Calibri"/>
              </a:rPr>
              <a:t>QWK from lr change alone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4572000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2A9D8F"/>
                </a:solidFill>
                <a:latin typeface="Calibri"/>
              </a:rPr>
              <a:t>0 → 0.31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5303520"/>
            <a:ext cx="27432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6B7580"/>
                </a:solidFill>
                <a:latin typeface="Calibri"/>
              </a:rPr>
              <a:t>Severe NPDR recall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4572000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2A9D8F"/>
                </a:solidFill>
                <a:latin typeface="Calibri"/>
              </a:rPr>
              <a:t>48 → 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5303520"/>
            <a:ext cx="27432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6B7580"/>
                </a:solidFill>
                <a:latin typeface="Calibri"/>
              </a:rPr>
              <a:t>errors of ≥ 2 grades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FD8CF"/>
                </a:solidFill>
                <a:latin typeface="Calibri"/>
              </a:rPr>
              <a:t>STAGE 3 ·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115568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Why: training at lr 1e-3 is unstable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580"/>
                </a:solidFill>
                <a:latin typeface="Calibri"/>
              </a:rPr>
              <a:t>Diabetic Retinopathy Grading · Reproduction of Chilukoti et al. (2024) · Stage 2 &amp;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580"/>
                </a:solidFill>
                <a:latin typeface="Calibri"/>
              </a:rPr>
              <a:t>11</a:t>
            </a:r>
          </a:p>
        </p:txBody>
      </p:sp>
      <p:pic>
        <p:nvPicPr>
          <p:cNvPr id="7" name="Picture 6" descr="s2_faithful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34440"/>
            <a:ext cx="5669280" cy="2015744"/>
          </a:xfrm>
          <a:prstGeom prst="rect">
            <a:avLst/>
          </a:prstGeom>
        </p:spPr>
      </p:pic>
      <p:pic>
        <p:nvPicPr>
          <p:cNvPr id="8" name="Picture 7" descr="s2_lr1e4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234440"/>
            <a:ext cx="5669280" cy="20157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3337560"/>
            <a:ext cx="5669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E76F51"/>
                </a:solidFill>
                <a:latin typeface="Calibri"/>
              </a:rPr>
              <a:t>Paper settings: lr 1e-3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3337560"/>
            <a:ext cx="5669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A9D8F"/>
                </a:solidFill>
                <a:latin typeface="Calibri"/>
              </a:rPr>
              <a:t>Only change: lr 1e-4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977639"/>
            <a:ext cx="5486400" cy="219456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977639"/>
            <a:ext cx="82296" cy="21945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4087368"/>
            <a:ext cx="51663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76F51"/>
                </a:solidFill>
                <a:latin typeface="Calibri"/>
              </a:rPr>
              <a:t>Symptoms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480559"/>
            <a:ext cx="5166360" cy="16459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22B36"/>
                </a:solidFill>
                <a:latin typeface="Calibri"/>
              </a:rPr>
              <a:t>Validation QWK collapses 5 times (down to −0.006 at epoch 5)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22B36"/>
                </a:solidFill>
                <a:latin typeface="Calibri"/>
              </a:rPr>
              <a:t>Training loss still 0.61 after 30 epochs: under-fitting, not over-fitting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77639"/>
            <a:ext cx="5486400" cy="219456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977639"/>
            <a:ext cx="82296" cy="21945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4087368"/>
            <a:ext cx="51663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A9D8F"/>
                </a:solidFill>
                <a:latin typeface="Calibri"/>
              </a:rPr>
              <a:t>Explanation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4480559"/>
            <a:ext cx="5166360" cy="16459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22B36"/>
                </a:solidFill>
                <a:latin typeface="Calibri"/>
              </a:rPr>
              <a:t>Adam at 1e-3 over-writes pretrained features in full fine-tuning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22B36"/>
                </a:solidFill>
                <a:latin typeface="Calibri"/>
              </a:rPr>
              <a:t>Small batch (8) adds noisy batch-norm statistics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22B36"/>
                </a:solidFill>
                <a:latin typeface="Calibri"/>
              </a:rPr>
              <a:t>Paper's own Table 3 shows VGG/ResNet collapsing to class 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FD8CF"/>
                </a:solidFill>
                <a:latin typeface="Calibri"/>
              </a:rPr>
              <a:t>STAGE 3 ·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115568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QWK hides minority-grade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580"/>
                </a:solidFill>
                <a:latin typeface="Calibri"/>
              </a:rPr>
              <a:t>Diabetic Retinopathy Grading · Reproduction of Chilukoti et al. (2024) · Stage 2 &amp;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580"/>
                </a:solidFill>
                <a:latin typeface="Calibri"/>
              </a:rPr>
              <a:t>12</a:t>
            </a:r>
          </a:p>
        </p:txBody>
      </p:sp>
      <p:pic>
        <p:nvPicPr>
          <p:cNvPr id="7" name="Picture 6" descr="s2_faithful_best_val_c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43000"/>
            <a:ext cx="4373879" cy="3749039"/>
          </a:xfrm>
          <a:prstGeom prst="rect">
            <a:avLst/>
          </a:prstGeom>
        </p:spPr>
      </p:pic>
      <p:pic>
        <p:nvPicPr>
          <p:cNvPr id="8" name="Picture 7" descr="s2_lr1e4_best_val_c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143000"/>
            <a:ext cx="4373879" cy="37490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4937760"/>
            <a:ext cx="4389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E76F51"/>
                </a:solidFill>
                <a:latin typeface="Calibri"/>
              </a:rPr>
              <a:t>Paper settings (lr 1e-3)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4937760"/>
            <a:ext cx="4389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lr 1e-4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64040" y="1234440"/>
            <a:ext cx="2240280" cy="493776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64040" y="1234440"/>
            <a:ext cx="82296" cy="49377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65208" y="1344168"/>
            <a:ext cx="1920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76F51"/>
                </a:solidFill>
                <a:latin typeface="Calibri"/>
              </a:rPr>
              <a:t>Read-out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65208" y="1737360"/>
            <a:ext cx="1920240" cy="4389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22B36"/>
                </a:solidFill>
                <a:latin typeface="Calibri"/>
              </a:rPr>
              <a:t>Severe NPDR: 0 / 29 correct at lr 1e-3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22B36"/>
                </a:solidFill>
                <a:latin typeface="Calibri"/>
              </a:rPr>
              <a:t>27 / 44 PDR called Moderate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22B36"/>
                </a:solidFill>
                <a:latin typeface="Calibri"/>
              </a:rPr>
              <a:t>Mild mostly → Moderate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22B36"/>
                </a:solidFill>
                <a:latin typeface="Calibri"/>
              </a:rPr>
              <a:t>Errors are adjacent, so QWK stays ≈ 0.83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E76F51"/>
                </a:solidFill>
                <a:latin typeface="Calibri"/>
              </a:rPr>
              <a:t>Per-class recall is essential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5486400"/>
            <a:ext cx="8869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580"/>
                </a:solidFill>
                <a:latin typeface="Calibri"/>
              </a:rPr>
              <a:t>At lr 1e-4: Severe 9 / 29 correct, PDR 24 / 44; large errors halve. Severe remains the hardest grade, which is the target for Stage 4.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FD8CF"/>
                </a:solidFill>
                <a:latin typeface="Calibri"/>
              </a:rPr>
              <a:t>STAGE 3 ·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115568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The snapshot ensemble only works when training is stable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580"/>
                </a:solidFill>
                <a:latin typeface="Calibri"/>
              </a:rPr>
              <a:t>Diabetic Retinopathy Grading · Reproduction of Chilukoti et al. (2024) · Stage 2 &amp;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580"/>
                </a:solidFill>
                <a:latin typeface="Calibri"/>
              </a:rPr>
              <a:t>13</a:t>
            </a:r>
          </a:p>
        </p:txBody>
      </p:sp>
      <p:pic>
        <p:nvPicPr>
          <p:cNvPr id="7" name="Picture 6" descr="snapshot_qw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88720"/>
            <a:ext cx="6949440" cy="3764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89520" y="1280160"/>
            <a:ext cx="4114800" cy="233172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0" y="1280160"/>
            <a:ext cx="82296" cy="233172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90688" y="1389888"/>
            <a:ext cx="37947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76F51"/>
                </a:solidFill>
                <a:latin typeface="Calibri"/>
              </a:rPr>
              <a:t>Paper settings (lr 1e-3)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1783080"/>
            <a:ext cx="3794760" cy="178307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6"/>
                </a:solidFill>
                <a:latin typeface="Calibri"/>
              </a:rPr>
              <a:t>Snapshot QWK 0.65 – 0.79, last one 0.83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6"/>
                </a:solidFill>
                <a:latin typeface="Calibri"/>
              </a:rPr>
              <a:t>Majority vote = 0.788, worse than single model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6"/>
                </a:solidFill>
                <a:latin typeface="Calibri"/>
              </a:rPr>
              <a:t>Severe &amp; PDR recall in vote: 0.00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3794760"/>
            <a:ext cx="4114800" cy="237744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89520" y="3794760"/>
            <a:ext cx="82296" cy="23774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3904488"/>
            <a:ext cx="37947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A9D8F"/>
                </a:solidFill>
                <a:latin typeface="Calibri"/>
              </a:rPr>
              <a:t>Stable training (lr 1e-4)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4297680"/>
            <a:ext cx="379476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6"/>
                </a:solidFill>
                <a:latin typeface="Calibri"/>
              </a:rPr>
              <a:t>Every snapshot 0.83 – 0.88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6"/>
                </a:solidFill>
                <a:latin typeface="Calibri"/>
              </a:rPr>
              <a:t>Vote = 0.887, above all snapshots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6"/>
                </a:solidFill>
                <a:latin typeface="Calibri"/>
              </a:rPr>
              <a:t>Ensemble helps only with good, diverse members (Huang et al., 2017)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FD8CF"/>
                </a:solidFill>
                <a:latin typeface="Calibri"/>
              </a:rPr>
              <a:t>STAGE 3 · GAP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115568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Explaining the reproduction gap (0.827 vs 0.954)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580"/>
                </a:solidFill>
                <a:latin typeface="Calibri"/>
              </a:rPr>
              <a:t>Diabetic Retinopathy Grading · Reproduction of Chilukoti et al. (2024) · Stage 2 &amp;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580"/>
                </a:solidFill>
                <a:latin typeface="Calibri"/>
              </a:rP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25880"/>
          <a:ext cx="1120140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5715000"/>
                <a:gridCol w="1920240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Candidate cause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B36"/>
                          </a:solidFill>
                          <a:latin typeface="Calibri"/>
                        </a:rPr>
                        <a:t>Learning rate 1e-3 (paper's setting)</a:t>
                      </a:r>
                    </a:p>
                  </a:txBody>
                  <a:tcPr marL="54864" marR="54864" marT="27432" marB="27432" anchor="ctr">
                    <a:solidFill>
                      <a:srgbClr val="D8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22B36"/>
                          </a:solidFill>
                          <a:latin typeface="Calibri"/>
                        </a:rPr>
                        <a:t>Changing only lr → +0.060 QWK, stable training</a:t>
                      </a:r>
                    </a:p>
                  </a:txBody>
                  <a:tcPr marL="54864" marR="54864" marT="27432" marB="27432" anchor="ctr">
                    <a:solidFill>
                      <a:srgbClr val="D8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22B36"/>
                          </a:solidFill>
                          <a:latin typeface="Calibri"/>
                        </a:rPr>
                        <a:t>Main cause</a:t>
                      </a:r>
                    </a:p>
                  </a:txBody>
                  <a:tcPr marL="54864" marR="54864" marT="27432" marB="27432" anchor="ctr">
                    <a:solidFill>
                      <a:srgbClr val="D8EFE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224 px / 30 epochs (hardware)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Small lesions less visible; not tested yet (Colab notebook ready)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Likely part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Unstated details (split, batch, loss)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Each can move QWK a few points on 550 test images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Possible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B36"/>
                          </a:solidFill>
                          <a:latin typeface="Calibri"/>
                        </a:rPr>
                        <a:t>Duplicate leakage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22B36"/>
                          </a:solidFill>
                          <a:latin typeface="Calibri"/>
                        </a:rPr>
                        <a:t>QWK 0.827 → 0.828 without the 29 leaked images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22B36"/>
                          </a:solidFill>
                          <a:latin typeface="Calibri"/>
                        </a:rPr>
                        <a:t>Ruled out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Reliability of reported numbers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Internally inconsistent tables (slide 7)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Open question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48640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Calibri"/>
              </a:rPr>
              <a:t>The single change of learning rate closes about half the gap; the rest is consistent with our lower resolution and shorter schedule.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FD8CF"/>
                </a:solidFill>
                <a:latin typeface="Calibri"/>
              </a:rPr>
              <a:t>STAGE 3 ·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115568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Failure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580"/>
                </a:solidFill>
                <a:latin typeface="Calibri"/>
              </a:rPr>
              <a:t>Diabetic Retinopathy Grading · Reproduction of Chilukoti et al. (2024) · Stage 2 &amp;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580"/>
                </a:solidFill>
                <a:latin typeface="Calibri"/>
              </a:rPr>
              <a:t>15</a:t>
            </a:r>
          </a:p>
        </p:txBody>
      </p:sp>
      <p:pic>
        <p:nvPicPr>
          <p:cNvPr id="7" name="Picture 6" descr="s2_faithful_fail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1188720"/>
            <a:ext cx="9857232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22B36"/>
                </a:solidFill>
                <a:latin typeface="Calibri"/>
              </a:rPr>
              <a:t>Mostly PDR → Mild/Moderate (incl. a large pre-retinal haemorrhage); several are dim, low-contrast or cropped. Neovascularisation is hard to see at 224 px.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FD8CF"/>
                </a:solidFill>
                <a:latin typeface="Calibri"/>
              </a:rPr>
              <a:t>STAGE 3 ·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115568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Limitations (and what we are honest about)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580"/>
                </a:solidFill>
                <a:latin typeface="Calibri"/>
              </a:rPr>
              <a:t>Diabetic Retinopathy Grading · Reproduction of Chilukoti et al. (2024) · Stage 2 &amp;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580"/>
                </a:solidFill>
                <a:latin typeface="Calibri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5486400" cy="489204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82296" cy="489204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389888"/>
            <a:ext cx="51663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76F51"/>
                </a:solidFill>
                <a:latin typeface="Calibri"/>
              </a:rPr>
              <a:t>Experimental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783080"/>
            <a:ext cx="5166360" cy="4343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22B36"/>
                </a:solidFill>
                <a:latin typeface="Calibri"/>
              </a:rPr>
              <a:t>Single dataset (APTOS), single seed, no external validation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22B36"/>
                </a:solidFill>
                <a:latin typeface="Calibri"/>
              </a:rPr>
              <a:t>224 px / 30 epochs instead of 300 px / 60 epochs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22B36"/>
                </a:solidFill>
                <a:latin typeface="Calibri"/>
              </a:rPr>
              <a:t>EyePACS-pretrained setting (0.967) not reproduced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22B36"/>
                </a:solidFill>
                <a:latin typeface="Calibri"/>
              </a:rPr>
              <a:t>Only 29 Severe and 44 PDR test images: 1 image ≈ 3 recall points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22B36"/>
                </a:solidFill>
                <a:latin typeface="Calibri"/>
              </a:rPr>
              <a:t>Paper's strategy 1 (150 px) skipped: reported on EyePACS only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486400" cy="489204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82296" cy="48920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389888"/>
            <a:ext cx="51663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Calibri"/>
              </a:rPr>
              <a:t>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783080"/>
            <a:ext cx="5166360" cy="4343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22B36"/>
                </a:solidFill>
                <a:latin typeface="Calibri"/>
              </a:rPr>
              <a:t>Headline run interrupted (disk full) and resumed from epoch 13 checkpoint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22B36"/>
                </a:solidFill>
                <a:latin typeface="Calibri"/>
              </a:rPr>
              <a:t>The lr 1e-4 run is our diagnostic, not the paper's protocol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22B36"/>
                </a:solidFill>
                <a:latin typeface="Calibri"/>
              </a:rPr>
              <a:t>No public code, so some choices are our interpretation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Calibri"/>
              </a:rPr>
              <a:t>No clinical claims: this is a reproduction study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FD8CF"/>
                </a:solidFill>
                <a:latin typeface="Calibri"/>
              </a:rPr>
              <a:t>LOOKING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115568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Next: Stage 4 hypothesis (predicted before coding)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580"/>
                </a:solidFill>
                <a:latin typeface="Calibri"/>
              </a:rPr>
              <a:t>Diabetic Retinopathy Grading · Reproduction of Chilukoti et al. (2024) · Stage 2 &amp;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580"/>
                </a:solidFill>
                <a:latin typeface="Calibri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11201400" cy="150876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82296" cy="1508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389888"/>
            <a:ext cx="108813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Hypothesis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783080"/>
            <a:ext cx="10881360" cy="9601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22B36"/>
                </a:solidFill>
                <a:latin typeface="Calibri"/>
              </a:rPr>
              <a:t>Replacing cross-entropy with a class-balanced, ordinal-aware loss on the stable lr 1e-4 baseline will improve Severe NPDR and PDR recognition and reduce large grading errors.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971800"/>
            <a:ext cx="5486400" cy="32004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971800"/>
            <a:ext cx="82296" cy="32004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3081528"/>
            <a:ext cx="51663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A9D8F"/>
                </a:solidFill>
                <a:latin typeface="Calibri"/>
              </a:rPr>
              <a:t>Mechanism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474720"/>
            <a:ext cx="5166360" cy="2651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22B36"/>
                </a:solidFill>
                <a:latin typeface="Calibri"/>
              </a:rPr>
              <a:t>Class weights raise the gradient contribution of rare grades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22B36"/>
                </a:solidFill>
                <a:latin typeface="Calibri"/>
              </a:rPr>
              <a:t>Ordinal term penalises errors by distance from the true grade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22B36"/>
                </a:solidFill>
                <a:latin typeface="Calibri"/>
              </a:rPr>
              <a:t>Targets both gaps from our literature review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217920" y="2971800"/>
          <a:ext cx="548640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371600"/>
                <a:gridCol w="1920240"/>
              </a:tblGrid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Predicted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Severe recall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0.31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+0.10 to +0.20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Minority recall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0.43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increase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Errors ≥ 2 grades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&lt; 24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QWK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0.887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0 to +0.02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0.815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may dip 1–2 pts</a:t>
                      </a:r>
                    </a:p>
                  </a:txBody>
                  <a:tcPr marL="54864" marR="54864" marT="27432" marB="27432" anchor="ctr"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FD8CF"/>
                </a:solidFill>
                <a:latin typeface="Calibri"/>
              </a:rPr>
              <a:t>TAKE-AWAYS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115568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580"/>
                </a:solidFill>
                <a:latin typeface="Calibri"/>
              </a:rPr>
              <a:t>Diabetic Retinopathy Grading · Reproduction of Chilukoti et al. (2024) · Stage 2 &amp;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580"/>
                </a:solidFill>
                <a:latin typeface="Calibri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868680" cy="100584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86868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3258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Calibri"/>
              </a:rPr>
              <a:t>Reproduced from scratch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755648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B36"/>
                </a:solidFill>
                <a:latin typeface="Calibri"/>
              </a:rPr>
              <a:t>No public code. With the paper's settings: QWK 0.827 vs 0.954 claimed.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468880"/>
            <a:ext cx="868680" cy="100584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468880"/>
            <a:ext cx="86868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51460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A9D8F"/>
                </a:solidFill>
                <a:latin typeface="Calibri"/>
              </a:rPr>
              <a:t>Found the main cause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944368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B36"/>
                </a:solidFill>
                <a:latin typeface="Calibri"/>
              </a:rPr>
              <a:t>lr 1e-3 makes training unstable; lr 1e-4 alone gives 0.887.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657600"/>
            <a:ext cx="868680" cy="100584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657600"/>
            <a:ext cx="86868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70332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A9D8F"/>
                </a:solidFill>
                <a:latin typeface="Calibri"/>
              </a:rPr>
              <a:t>Ensemble claim is conditional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133087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B36"/>
                </a:solidFill>
                <a:latin typeface="Calibri"/>
              </a:rPr>
              <a:t>Snapshot vote hurts when unstable (0.788) and helps when stable.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846320"/>
            <a:ext cx="868680" cy="1005840"/>
          </a:xfrm>
          <a:prstGeom prst="roundRect">
            <a:avLst>
              <a:gd name="adj" fmla="val 8000"/>
            </a:avLst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846320"/>
            <a:ext cx="86868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89204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E76F51"/>
                </a:solidFill>
                <a:latin typeface="Calibri"/>
              </a:rPr>
              <a:t>QWK is not enough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5321808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B36"/>
                </a:solidFill>
                <a:latin typeface="Calibri"/>
              </a:rPr>
              <a:t>Severe NPDR was never detected at QWK 0.83: report per-class recall.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035040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Calibri"/>
              </a:rPr>
              <a:t>Code, logs, figures &amp; report: github.com/sshivanshg/dr-grading-reproduction   · 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